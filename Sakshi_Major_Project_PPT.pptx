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8" r:id="rId14"/>
    <p:sldId id="349"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5033" autoAdjust="0"/>
  </p:normalViewPr>
  <p:slideViewPr>
    <p:cSldViewPr snapToGrid="0">
      <p:cViewPr>
        <p:scale>
          <a:sx n="82" d="100"/>
          <a:sy n="82" d="100"/>
        </p:scale>
        <p:origin x="72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akshiiiShetty/Major_project_Data_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1192803"/>
            <a:ext cx="10240784" cy="1360454"/>
          </a:xfrm>
        </p:spPr>
        <p:txBody>
          <a:bodyPr>
            <a:normAutofit fontScale="90000"/>
          </a:bodyPr>
          <a:lstStyle/>
          <a:p>
            <a:pPr algn="ctr"/>
            <a:r>
              <a:rPr lang="en-GB" sz="3200" dirty="0">
                <a:latin typeface="Times New Roman" panose="02020603050405020304" pitchFamily="18" charset="0"/>
                <a:cs typeface="Times New Roman" panose="02020603050405020304" pitchFamily="18" charset="0"/>
              </a:rPr>
              <a:t>Project Title </a:t>
            </a:r>
            <a:br>
              <a:rPr lang="en-GB" sz="3200" dirty="0">
                <a:latin typeface="Times New Roman" panose="02020603050405020304" pitchFamily="18" charset="0"/>
                <a:cs typeface="Times New Roman" panose="02020603050405020304" pitchFamily="18" charset="0"/>
              </a:rPr>
            </a:br>
            <a:r>
              <a:rPr lang="en-IN" sz="4900" dirty="0">
                <a:solidFill>
                  <a:srgbClr val="C00000"/>
                </a:solidFill>
                <a:latin typeface="Times New Roman" panose="02020603050405020304" pitchFamily="18" charset="0"/>
                <a:cs typeface="Times New Roman" panose="02020603050405020304" pitchFamily="18" charset="0"/>
              </a:rPr>
              <a:t>Seasonal Agriculture Performance Analysis </a:t>
            </a:r>
            <a:br>
              <a:rPr lang="en-GB"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52051" y="4115293"/>
            <a:ext cx="5817106"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US" dirty="0"/>
              <a:t> </a:t>
            </a:r>
            <a:r>
              <a:rPr lang="en-US" b="1" dirty="0">
                <a:latin typeface="Times New Roman" panose="02020603050405020304" pitchFamily="18" charset="0"/>
                <a:cs typeface="Times New Roman" panose="02020603050405020304" pitchFamily="18" charset="0"/>
              </a:rPr>
              <a:t>STU6a65c726bea251785055014 </a:t>
            </a:r>
          </a:p>
          <a:p>
            <a:endParaRPr lang="en-US" b="1" dirty="0">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65F4EB2F-F9C8-9C67-B2F6-940C1AC4B941}"/>
              </a:ext>
            </a:extLst>
          </p:cNvPr>
          <p:cNvSpPr>
            <a:spLocks noGrp="1"/>
          </p:cNvSpPr>
          <p:nvPr>
            <p:ph type="body" sz="quarter" idx="11"/>
          </p:nvPr>
        </p:nvSpPr>
        <p:spPr>
          <a:xfrm>
            <a:off x="742721" y="3134114"/>
            <a:ext cx="7948055" cy="861497"/>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Name: SAKSHI</a:t>
            </a:r>
          </a:p>
          <a:p>
            <a:r>
              <a:rPr lang="en-US" dirty="0">
                <a:solidFill>
                  <a:schemeClr val="tx1"/>
                </a:solidFill>
                <a:latin typeface="Times New Roman" panose="02020603050405020304" pitchFamily="18" charset="0"/>
                <a:cs typeface="Times New Roman" panose="02020603050405020304" pitchFamily="18" charset="0"/>
              </a:rPr>
              <a:t>College Name: AJ Institute of Engineering and Technology Mangaluru</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73986" y="1625006"/>
            <a:ext cx="8733624" cy="3607987"/>
          </a:xfrm>
        </p:spPr>
        <p:txBody>
          <a:bodyPr vert="horz" lIns="91440" tIns="45720" rIns="91440" bIns="45720" rtlCol="0" anchor="t">
            <a:noAutofit/>
          </a:bodyPr>
          <a:lstStyle/>
          <a:p>
            <a:pPr marL="0" indent="0" algn="just">
              <a:lnSpc>
                <a:spcPct val="100000"/>
              </a:lnSpc>
              <a:buNone/>
            </a:pPr>
            <a:r>
              <a:rPr lang="en-IN" sz="24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sz="4400"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STATEMENT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50298" y="280427"/>
            <a:ext cx="6276109" cy="538557"/>
          </a:xfrm>
        </p:spPr>
        <p:txBody>
          <a:bodyPr>
            <a:noAutofit/>
          </a:bodyPr>
          <a:lstStyle/>
          <a:p>
            <a:r>
              <a:rPr lang="en-GB" sz="4000" dirty="0">
                <a:latin typeface="Times New Roman" panose="02020603050405020304" pitchFamily="18" charset="0"/>
                <a:cs typeface="Times New Roman" panose="02020603050405020304" pitchFamily="18" charset="0"/>
              </a:rPr>
              <a:t>Project Description</a:t>
            </a:r>
            <a:br>
              <a:rPr lang="en-GB" sz="4000" dirty="0">
                <a:latin typeface="Times New Roman" panose="02020603050405020304" pitchFamily="18" charset="0"/>
                <a:cs typeface="Times New Roman" panose="02020603050405020304" pitchFamily="18" charset="0"/>
              </a:rPr>
            </a:br>
            <a:br>
              <a:rPr lang="en-GB"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E21C7B1-39C4-C00A-90C1-3C1CA8AA12F6}"/>
              </a:ext>
            </a:extLst>
          </p:cNvPr>
          <p:cNvSpPr txBox="1"/>
          <p:nvPr/>
        </p:nvSpPr>
        <p:spPr>
          <a:xfrm>
            <a:off x="152401" y="880443"/>
            <a:ext cx="10911840" cy="5016758"/>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This project is a data analytics-based study that examines agricultural performance across different seasons, geographical regions and farming conditions.</a:t>
            </a:r>
          </a:p>
          <a:p>
            <a:pPr algn="just"/>
            <a:r>
              <a:rPr lang="en-IN" sz="2000" dirty="0">
                <a:latin typeface="Times New Roman" panose="02020603050405020304" pitchFamily="18" charset="0"/>
                <a:cs typeface="Times New Roman" panose="02020603050405020304" pitchFamily="18" charset="0"/>
              </a:rPr>
              <a:t>The dataset includes information related to:</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Crop and season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State and district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Rainfall and temperature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Soil conditions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Fertilizer and pesticide usage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Irrigation methods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Crop yield and production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Cost, revenue and profit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Water usage and efficiency </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Disease and pest risk </a:t>
            </a:r>
          </a:p>
          <a:p>
            <a:pPr algn="just"/>
            <a:r>
              <a:rPr lang="en-IN" sz="2000" dirty="0">
                <a:latin typeface="Times New Roman" panose="02020603050405020304" pitchFamily="18" charset="0"/>
                <a:cs typeface="Times New Roman" panose="02020603050405020304" pitchFamily="18" charset="0"/>
              </a:rPr>
              <a:t>Python-based data analysis and visualization techniques are used to identify seasonal differences and relationships between environmental conditions, resource usage and agricultural outcomes.</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968C-26F6-3DD6-2E93-85160FC31AC4}"/>
              </a:ext>
            </a:extLst>
          </p:cNvPr>
          <p:cNvSpPr>
            <a:spLocks noGrp="1"/>
          </p:cNvSpPr>
          <p:nvPr>
            <p:ph type="ctrTitle"/>
          </p:nvPr>
        </p:nvSpPr>
        <p:spPr>
          <a:xfrm>
            <a:off x="948267" y="179494"/>
            <a:ext cx="7766936" cy="866986"/>
          </a:xfrm>
        </p:spPr>
        <p:txBody>
          <a:bodyPr/>
          <a:lstStyle/>
          <a:p>
            <a:pPr algn="l"/>
            <a:r>
              <a:rPr lang="en-US" sz="4000" b="1" dirty="0">
                <a:solidFill>
                  <a:schemeClr val="tx1"/>
                </a:solidFill>
                <a:latin typeface="Times New Roman" panose="02020603050405020304" pitchFamily="18" charset="0"/>
                <a:cs typeface="Times New Roman" panose="02020603050405020304" pitchFamily="18" charset="0"/>
              </a:rPr>
              <a:t>Objective</a:t>
            </a:r>
            <a:r>
              <a:rPr lang="en-US" dirty="0"/>
              <a:t> </a:t>
            </a:r>
            <a:endParaRPr lang="en-IN" dirty="0"/>
          </a:p>
        </p:txBody>
      </p:sp>
      <p:sp>
        <p:nvSpPr>
          <p:cNvPr id="3" name="Subtitle 2">
            <a:extLst>
              <a:ext uri="{FF2B5EF4-FFF2-40B4-BE49-F238E27FC236}">
                <a16:creationId xmlns:a16="http://schemas.microsoft.com/office/drawing/2014/main" id="{B1A123F3-6243-A026-777C-F99D0EB982D0}"/>
              </a:ext>
            </a:extLst>
          </p:cNvPr>
          <p:cNvSpPr>
            <a:spLocks noGrp="1"/>
          </p:cNvSpPr>
          <p:nvPr>
            <p:ph type="subTitle" idx="1"/>
          </p:nvPr>
        </p:nvSpPr>
        <p:spPr>
          <a:xfrm>
            <a:off x="701040" y="1188720"/>
            <a:ext cx="10251440" cy="5489786"/>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The primary objective of this project is to </a:t>
            </a:r>
            <a:r>
              <a:rPr lang="en-IN" dirty="0" err="1">
                <a:solidFill>
                  <a:schemeClr val="tx1"/>
                </a:solidFill>
                <a:latin typeface="Times New Roman" panose="02020603050405020304" pitchFamily="18" charset="0"/>
                <a:cs typeface="Times New Roman" panose="02020603050405020304" pitchFamily="18" charset="0"/>
              </a:rPr>
              <a:t>analyze</a:t>
            </a:r>
            <a:r>
              <a:rPr lang="en-IN" dirty="0">
                <a:solidFill>
                  <a:schemeClr val="tx1"/>
                </a:solidFill>
                <a:latin typeface="Times New Roman" panose="02020603050405020304" pitchFamily="18" charset="0"/>
                <a:cs typeface="Times New Roman" panose="02020603050405020304" pitchFamily="18" charset="0"/>
              </a:rPr>
              <a:t> agricultural data from different seasons and identify meaningful patterns, trends, relationships and differences in agricultural performance. Students should independently: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Explore and understand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Clean and prepare the data for analysis.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Examine how agricultural performance varies across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important seasonal patterns and trends.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Investigate relationships between seasonal conditions and agricultural outcomes.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Compare relevant groups within different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significant differences or unusual patterns.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Apply appropriate statistical and visualization techniques.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Interpret findings based on evidence from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Develop meaningful conclusions and data-driven recommendations.</a:t>
            </a:r>
          </a:p>
        </p:txBody>
      </p:sp>
      <p:sp>
        <p:nvSpPr>
          <p:cNvPr id="4" name="Slide Number Placeholder 3">
            <a:extLst>
              <a:ext uri="{FF2B5EF4-FFF2-40B4-BE49-F238E27FC236}">
                <a16:creationId xmlns:a16="http://schemas.microsoft.com/office/drawing/2014/main" id="{553F34AA-28B1-5175-730D-B8EC087F55C3}"/>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76669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03199" y="914399"/>
            <a:ext cx="10596881" cy="5748179"/>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1. Farmers</a:t>
            </a:r>
          </a:p>
          <a:p>
            <a:pPr marL="0" lvl="0" indent="0">
              <a:buNone/>
            </a:pPr>
            <a:r>
              <a:rPr lang="en-IN" sz="1800" dirty="0">
                <a:latin typeface="Times New Roman" panose="02020603050405020304" pitchFamily="18" charset="0"/>
                <a:cs typeface="Times New Roman" panose="02020603050405020304" pitchFamily="18" charset="0"/>
              </a:rPr>
              <a:t>Understand seasonal crop performance. </a:t>
            </a:r>
          </a:p>
          <a:p>
            <a:pPr marL="0" lvl="0" indent="0">
              <a:buNone/>
            </a:pPr>
            <a:r>
              <a:rPr lang="en-IN" sz="1800" dirty="0">
                <a:latin typeface="Times New Roman" panose="02020603050405020304" pitchFamily="18" charset="0"/>
                <a:cs typeface="Times New Roman" panose="02020603050405020304" pitchFamily="18" charset="0"/>
              </a:rPr>
              <a:t>Improve crop selection and resource planning. </a:t>
            </a:r>
          </a:p>
          <a:p>
            <a:pPr marL="0" indent="0">
              <a:buNone/>
            </a:pPr>
            <a:r>
              <a:rPr lang="en-IN" sz="1800" b="1" dirty="0">
                <a:latin typeface="Times New Roman" panose="02020603050405020304" pitchFamily="18" charset="0"/>
                <a:cs typeface="Times New Roman" panose="02020603050405020304" pitchFamily="18" charset="0"/>
              </a:rPr>
              <a:t>2. Agricultural Planners</a:t>
            </a:r>
          </a:p>
          <a:p>
            <a:pPr marL="0" lvl="0" indent="0">
              <a:buNone/>
            </a:pPr>
            <a:r>
              <a:rPr lang="en-IN" sz="1800" dirty="0">
                <a:latin typeface="Times New Roman" panose="02020603050405020304" pitchFamily="18" charset="0"/>
                <a:cs typeface="Times New Roman" panose="02020603050405020304" pitchFamily="18" charset="0"/>
              </a:rPr>
              <a:t>Compare agricultural performance across regions and seasons. </a:t>
            </a:r>
          </a:p>
          <a:p>
            <a:pPr marL="0" lvl="0" indent="0">
              <a:buNone/>
            </a:pPr>
            <a:r>
              <a:rPr lang="en-IN" sz="1800" dirty="0">
                <a:latin typeface="Times New Roman" panose="02020603050405020304" pitchFamily="18" charset="0"/>
                <a:cs typeface="Times New Roman" panose="02020603050405020304" pitchFamily="18" charset="0"/>
              </a:rPr>
              <a:t>Support seasonal planning decisions. </a:t>
            </a:r>
          </a:p>
          <a:p>
            <a:pPr marL="0" indent="0">
              <a:buNone/>
            </a:pPr>
            <a:r>
              <a:rPr lang="en-IN" sz="1800" b="1" dirty="0">
                <a:latin typeface="Times New Roman" panose="02020603050405020304" pitchFamily="18" charset="0"/>
                <a:cs typeface="Times New Roman" panose="02020603050405020304" pitchFamily="18" charset="0"/>
              </a:rPr>
              <a:t>3. Agricultural Researchers</a:t>
            </a:r>
          </a:p>
          <a:p>
            <a:pPr marL="0" lvl="0" indent="0">
              <a:buNone/>
            </a:pPr>
            <a:r>
              <a:rPr lang="en-IN" sz="1800" dirty="0">
                <a:latin typeface="Times New Roman" panose="02020603050405020304" pitchFamily="18" charset="0"/>
                <a:cs typeface="Times New Roman" panose="02020603050405020304" pitchFamily="18" charset="0"/>
              </a:rPr>
              <a:t>Study environmental and agricultural relationships. </a:t>
            </a:r>
          </a:p>
          <a:p>
            <a:pPr marL="0" indent="0">
              <a:buNone/>
            </a:pPr>
            <a:r>
              <a:rPr lang="en-IN" sz="1800" b="1" dirty="0">
                <a:latin typeface="Times New Roman" panose="02020603050405020304" pitchFamily="18" charset="0"/>
                <a:cs typeface="Times New Roman" panose="02020603050405020304" pitchFamily="18" charset="0"/>
              </a:rPr>
              <a:t>4. Government and Agricultural Departments</a:t>
            </a:r>
          </a:p>
          <a:p>
            <a:pPr marL="0" lvl="0" indent="0">
              <a:buNone/>
            </a:pPr>
            <a:r>
              <a:rPr lang="en-IN" sz="1800" dirty="0">
                <a:latin typeface="Times New Roman" panose="02020603050405020304" pitchFamily="18" charset="0"/>
                <a:cs typeface="Times New Roman" panose="02020603050405020304" pitchFamily="18" charset="0"/>
              </a:rPr>
              <a:t>Use data-driven insights for agricultural planning. </a:t>
            </a:r>
          </a:p>
          <a:p>
            <a:pPr marL="0" lvl="0" indent="0">
              <a:buNone/>
            </a:pPr>
            <a:r>
              <a:rPr lang="en-IN" sz="1800" dirty="0">
                <a:latin typeface="Times New Roman" panose="02020603050405020304" pitchFamily="18" charset="0"/>
                <a:cs typeface="Times New Roman" panose="02020603050405020304" pitchFamily="18" charset="0"/>
              </a:rPr>
              <a:t>Improve resource allocation. </a:t>
            </a:r>
          </a:p>
          <a:p>
            <a:pPr marL="0" indent="0">
              <a:buNone/>
            </a:pPr>
            <a:r>
              <a:rPr lang="en-IN" sz="1800" b="1" dirty="0">
                <a:latin typeface="Times New Roman" panose="02020603050405020304" pitchFamily="18" charset="0"/>
                <a:cs typeface="Times New Roman" panose="02020603050405020304" pitchFamily="18" charset="0"/>
              </a:rPr>
              <a:t>5. Data Analysts</a:t>
            </a:r>
          </a:p>
          <a:p>
            <a:pPr marL="0" lvl="0" indent="0">
              <a:buNone/>
            </a:pPr>
            <a:r>
              <a:rPr lang="en-IN" sz="1800" dirty="0">
                <a:latin typeface="Times New Roman" panose="02020603050405020304" pitchFamily="18" charset="0"/>
                <a:cs typeface="Times New Roman" panose="02020603050405020304" pitchFamily="18" charset="0"/>
              </a:rPr>
              <a:t>Perform agricultural trend and performance analysis.</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12008" y="195421"/>
            <a:ext cx="10046070" cy="802641"/>
          </a:xfrm>
        </p:spPr>
        <p:txBody>
          <a:bodyPr>
            <a:normAutofit/>
          </a:bodyPr>
          <a:lstStyle/>
          <a:p>
            <a:r>
              <a:rPr lang="en-US" sz="2800" dirty="0">
                <a:latin typeface="Times New Roman" panose="02020603050405020304" pitchFamily="18" charset="0"/>
                <a:cs typeface="Times New Roman" panose="02020603050405020304" pitchFamily="18" charset="0"/>
              </a:rPr>
              <a:t>WHO ARE THE END USERS?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328967"/>
            <a:ext cx="5306291" cy="847817"/>
          </a:xfrm>
        </p:spPr>
        <p:txBody>
          <a:bodyPr>
            <a:normAutofit/>
          </a:bodyPr>
          <a:lstStyle/>
          <a:p>
            <a:r>
              <a:rPr lang="en-US" sz="4000" dirty="0">
                <a:latin typeface="Times New Roman" panose="02020603050405020304" pitchFamily="18" charset="0"/>
                <a:cs typeface="Times New Roman" panose="02020603050405020304" pitchFamily="18" charset="0"/>
              </a:rPr>
              <a:t>Technology Used</a:t>
            </a:r>
          </a:p>
        </p:txBody>
      </p:sp>
      <p:graphicFrame>
        <p:nvGraphicFramePr>
          <p:cNvPr id="10" name="Table 9">
            <a:extLst>
              <a:ext uri="{FF2B5EF4-FFF2-40B4-BE49-F238E27FC236}">
                <a16:creationId xmlns:a16="http://schemas.microsoft.com/office/drawing/2014/main" id="{4B1478DC-532A-06C3-26CB-4F9AAAB8989E}"/>
              </a:ext>
            </a:extLst>
          </p:cNvPr>
          <p:cNvGraphicFramePr>
            <a:graphicFrameLocks noGrp="1"/>
          </p:cNvGraphicFramePr>
          <p:nvPr>
            <p:extLst>
              <p:ext uri="{D42A27DB-BD31-4B8C-83A1-F6EECF244321}">
                <p14:modId xmlns:p14="http://schemas.microsoft.com/office/powerpoint/2010/main" val="197081325"/>
              </p:ext>
            </p:extLst>
          </p:nvPr>
        </p:nvGraphicFramePr>
        <p:xfrm>
          <a:off x="601404" y="1305225"/>
          <a:ext cx="8382001" cy="3915707"/>
        </p:xfrm>
        <a:graphic>
          <a:graphicData uri="http://schemas.openxmlformats.org/drawingml/2006/table">
            <a:tbl>
              <a:tblPr firstRow="1" bandRow="1">
                <a:tableStyleId>{9DCAF9ED-07DC-4A11-8D7F-57B35C25682E}</a:tableStyleId>
              </a:tblPr>
              <a:tblGrid>
                <a:gridCol w="2569133">
                  <a:extLst>
                    <a:ext uri="{9D8B030D-6E8A-4147-A177-3AD203B41FA5}">
                      <a16:colId xmlns:a16="http://schemas.microsoft.com/office/drawing/2014/main" val="3694305424"/>
                    </a:ext>
                  </a:extLst>
                </a:gridCol>
                <a:gridCol w="5812868">
                  <a:extLst>
                    <a:ext uri="{9D8B030D-6E8A-4147-A177-3AD203B41FA5}">
                      <a16:colId xmlns:a16="http://schemas.microsoft.com/office/drawing/2014/main" val="3942538526"/>
                    </a:ext>
                  </a:extLst>
                </a:gridCol>
              </a:tblGrid>
              <a:tr h="490303">
                <a:tc>
                  <a:txBody>
                    <a:bodyPr/>
                    <a:lstStyle/>
                    <a:p>
                      <a:r>
                        <a:rPr lang="en-US" dirty="0">
                          <a:latin typeface="Times New Roman" panose="02020603050405020304" pitchFamily="18" charset="0"/>
                          <a:cs typeface="Times New Roman" panose="02020603050405020304" pitchFamily="18" charset="0"/>
                        </a:rPr>
                        <a:t>Technology</a:t>
                      </a:r>
                      <a:endParaRPr lang="en-IN" dirty="0">
                        <a:latin typeface="Times New Roman" panose="02020603050405020304" pitchFamily="18" charset="0"/>
                        <a:cs typeface="Times New Roman" panose="02020603050405020304" pitchFamily="18" charset="0"/>
                      </a:endParaRPr>
                    </a:p>
                  </a:txBody>
                  <a:tcPr>
                    <a:solidFill>
                      <a:srgbClr val="002060"/>
                    </a:solidFill>
                  </a:tcPr>
                </a:tc>
                <a:tc>
                  <a:txBody>
                    <a:bodyPr/>
                    <a:lstStyle/>
                    <a:p>
                      <a:r>
                        <a:rPr lang="en-US" dirty="0">
                          <a:latin typeface="Times New Roman" panose="02020603050405020304" pitchFamily="18" charset="0"/>
                          <a:cs typeface="Times New Roman" panose="02020603050405020304" pitchFamily="18" charset="0"/>
                        </a:rPr>
                        <a:t>Purpose</a:t>
                      </a:r>
                      <a:endParaRPr lang="en-IN" dirty="0">
                        <a:latin typeface="Times New Roman" panose="02020603050405020304" pitchFamily="18" charset="0"/>
                        <a:cs typeface="Times New Roman" panose="02020603050405020304" pitchFamily="18" charset="0"/>
                      </a:endParaRPr>
                    </a:p>
                  </a:txBody>
                  <a:tcPr>
                    <a:solidFill>
                      <a:srgbClr val="002060"/>
                    </a:solidFill>
                  </a:tcPr>
                </a:tc>
                <a:extLst>
                  <a:ext uri="{0D108BD9-81ED-4DB2-BD59-A6C34878D82A}">
                    <a16:rowId xmlns:a16="http://schemas.microsoft.com/office/drawing/2014/main" val="1574821373"/>
                  </a:ext>
                </a:extLst>
              </a:tr>
              <a:tr h="490303">
                <a:tc>
                  <a:txBody>
                    <a:bodyPr/>
                    <a:lstStyle/>
                    <a:p>
                      <a:r>
                        <a:rPr lang="en-US" dirty="0">
                          <a:latin typeface="Times New Roman" panose="02020603050405020304" pitchFamily="18" charset="0"/>
                          <a:cs typeface="Times New Roman" panose="02020603050405020304" pitchFamily="18" charset="0"/>
                        </a:rPr>
                        <a:t>Python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Data Analysis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3911937"/>
                  </a:ext>
                </a:extLst>
              </a:tr>
              <a:tr h="483586">
                <a:tc>
                  <a:txBody>
                    <a:bodyPr/>
                    <a:lstStyle/>
                    <a:p>
                      <a:r>
                        <a:rPr lang="en-US" dirty="0">
                          <a:latin typeface="Times New Roman" panose="02020603050405020304" pitchFamily="18" charset="0"/>
                          <a:cs typeface="Times New Roman" panose="02020603050405020304" pitchFamily="18" charset="0"/>
                        </a:rPr>
                        <a:t>Pandas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loading, cleaning and manipulation</a:t>
                      </a:r>
                    </a:p>
                  </a:txBody>
                  <a:tcPr/>
                </a:tc>
                <a:extLst>
                  <a:ext uri="{0D108BD9-81ED-4DB2-BD59-A6C34878D82A}">
                    <a16:rowId xmlns:a16="http://schemas.microsoft.com/office/drawing/2014/main" val="1948895865"/>
                  </a:ext>
                </a:extLst>
              </a:tr>
              <a:tr h="490303">
                <a:tc>
                  <a:txBody>
                    <a:bodyPr/>
                    <a:lstStyle/>
                    <a:p>
                      <a:r>
                        <a:rPr lang="en-US" dirty="0">
                          <a:latin typeface="Times New Roman" panose="02020603050405020304" pitchFamily="18" charset="0"/>
                          <a:cs typeface="Times New Roman" panose="02020603050405020304" pitchFamily="18" charset="0"/>
                        </a:rPr>
                        <a:t>NumPy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Numerical operations</a:t>
                      </a:r>
                    </a:p>
                  </a:txBody>
                  <a:tcPr/>
                </a:tc>
                <a:extLst>
                  <a:ext uri="{0D108BD9-81ED-4DB2-BD59-A6C34878D82A}">
                    <a16:rowId xmlns:a16="http://schemas.microsoft.com/office/drawing/2014/main" val="3041223359"/>
                  </a:ext>
                </a:extLst>
              </a:tr>
              <a:tr h="490303">
                <a:tc>
                  <a:txBody>
                    <a:bodyPr/>
                    <a:lstStyle/>
                    <a:p>
                      <a:r>
                        <a:rPr lang="en-US" dirty="0">
                          <a:latin typeface="Times New Roman" panose="02020603050405020304" pitchFamily="18" charset="0"/>
                          <a:cs typeface="Times New Roman" panose="02020603050405020304" pitchFamily="18" charset="0"/>
                        </a:rPr>
                        <a:t>Matplotlib</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visualization</a:t>
                      </a:r>
                    </a:p>
                  </a:txBody>
                  <a:tcPr/>
                </a:tc>
                <a:extLst>
                  <a:ext uri="{0D108BD9-81ED-4DB2-BD59-A6C34878D82A}">
                    <a16:rowId xmlns:a16="http://schemas.microsoft.com/office/drawing/2014/main" val="901893085"/>
                  </a:ext>
                </a:extLst>
              </a:tr>
              <a:tr h="490303">
                <a:tc>
                  <a:txBody>
                    <a:bodyPr/>
                    <a:lstStyle/>
                    <a:p>
                      <a:r>
                        <a:rPr lang="en-US" dirty="0">
                          <a:latin typeface="Times New Roman" panose="02020603050405020304" pitchFamily="18" charset="0"/>
                          <a:cs typeface="Times New Roman" panose="02020603050405020304" pitchFamily="18" charset="0"/>
                        </a:rPr>
                        <a:t>Seaborn</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visualization</a:t>
                      </a:r>
                    </a:p>
                  </a:txBody>
                  <a:tcPr/>
                </a:tc>
                <a:extLst>
                  <a:ext uri="{0D108BD9-81ED-4DB2-BD59-A6C34878D82A}">
                    <a16:rowId xmlns:a16="http://schemas.microsoft.com/office/drawing/2014/main" val="1796373982"/>
                  </a:ext>
                </a:extLst>
              </a:tr>
              <a:tr h="490303">
                <a:tc>
                  <a:txBody>
                    <a:bodyPr/>
                    <a:lstStyle/>
                    <a:p>
                      <a:r>
                        <a:rPr lang="en-US" dirty="0" err="1">
                          <a:latin typeface="Times New Roman" panose="02020603050405020304" pitchFamily="18" charset="0"/>
                          <a:cs typeface="Times New Roman" panose="02020603050405020304" pitchFamily="18" charset="0"/>
                        </a:rPr>
                        <a:t>Scipy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analysis</a:t>
                      </a:r>
                    </a:p>
                  </a:txBody>
                  <a:tcPr/>
                </a:tc>
                <a:extLst>
                  <a:ext uri="{0D108BD9-81ED-4DB2-BD59-A6C34878D82A}">
                    <a16:rowId xmlns:a16="http://schemas.microsoft.com/office/drawing/2014/main" val="2124787018"/>
                  </a:ext>
                </a:extLst>
              </a:tr>
              <a:tr h="490303">
                <a:tc>
                  <a:txBody>
                    <a:bodyPr/>
                    <a:lstStyle/>
                    <a:p>
                      <a:r>
                        <a:rPr lang="en-US" dirty="0">
                          <a:latin typeface="Times New Roman" panose="02020603050405020304" pitchFamily="18" charset="0"/>
                          <a:cs typeface="Times New Roman" panose="02020603050405020304" pitchFamily="18" charset="0"/>
                        </a:rPr>
                        <a:t>Jupyter Notebook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Complete project documentation</a:t>
                      </a:r>
                    </a:p>
                  </a:txBody>
                  <a:tcPr/>
                </a:tc>
                <a:extLst>
                  <a:ext uri="{0D108BD9-81ED-4DB2-BD59-A6C34878D82A}">
                    <a16:rowId xmlns:a16="http://schemas.microsoft.com/office/drawing/2014/main" val="182594167"/>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29069" y="123701"/>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BD405EF-FBB9-7816-587B-9A0E16FEC452}"/>
              </a:ext>
            </a:extLst>
          </p:cNvPr>
          <p:cNvPicPr>
            <a:picLocks noChangeAspect="1"/>
          </p:cNvPicPr>
          <p:nvPr/>
        </p:nvPicPr>
        <p:blipFill>
          <a:blip r:embed="rId3"/>
          <a:stretch>
            <a:fillRect/>
          </a:stretch>
        </p:blipFill>
        <p:spPr>
          <a:xfrm>
            <a:off x="675957" y="1176152"/>
            <a:ext cx="8335538" cy="440647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30">
            <a:extLst>
              <a:ext uri="{FF2B5EF4-FFF2-40B4-BE49-F238E27FC236}">
                <a16:creationId xmlns:a16="http://schemas.microsoft.com/office/drawing/2014/main" id="{686AF697-965D-D506-D3F8-1695D6EC4555}"/>
              </a:ext>
            </a:extLst>
          </p:cNvPr>
          <p:cNvSpPr txBox="1">
            <a:spLocks/>
          </p:cNvSpPr>
          <p:nvPr/>
        </p:nvSpPr>
        <p:spPr>
          <a:xfrm>
            <a:off x="473382" y="14277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FFC2F92-BCA6-0B69-BA7E-26E0C31AB67F}"/>
              </a:ext>
            </a:extLst>
          </p:cNvPr>
          <p:cNvPicPr>
            <a:picLocks noChangeAspect="1"/>
          </p:cNvPicPr>
          <p:nvPr/>
        </p:nvPicPr>
        <p:blipFill>
          <a:blip r:embed="rId3"/>
          <a:stretch>
            <a:fillRect/>
          </a:stretch>
        </p:blipFill>
        <p:spPr>
          <a:xfrm>
            <a:off x="320982" y="1427771"/>
            <a:ext cx="5506218" cy="3505689"/>
          </a:xfrm>
          <a:prstGeom prst="rect">
            <a:avLst/>
          </a:prstGeom>
        </p:spPr>
      </p:pic>
      <p:pic>
        <p:nvPicPr>
          <p:cNvPr id="10" name="Picture 9">
            <a:extLst>
              <a:ext uri="{FF2B5EF4-FFF2-40B4-BE49-F238E27FC236}">
                <a16:creationId xmlns:a16="http://schemas.microsoft.com/office/drawing/2014/main" id="{51D17E85-622E-FDB7-2EA0-A1DF06A6FC7B}"/>
              </a:ext>
            </a:extLst>
          </p:cNvPr>
          <p:cNvPicPr>
            <a:picLocks noChangeAspect="1"/>
          </p:cNvPicPr>
          <p:nvPr/>
        </p:nvPicPr>
        <p:blipFill>
          <a:blip r:embed="rId4"/>
          <a:stretch>
            <a:fillRect/>
          </a:stretch>
        </p:blipFill>
        <p:spPr>
          <a:xfrm>
            <a:off x="6212378" y="1456350"/>
            <a:ext cx="5658640" cy="347711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B31733EA-0687-4598-26D6-A59BB0BC1D1B}"/>
              </a:ext>
            </a:extLst>
          </p:cNvPr>
          <p:cNvPicPr>
            <a:picLocks noChangeAspect="1"/>
          </p:cNvPicPr>
          <p:nvPr/>
        </p:nvPicPr>
        <p:blipFill>
          <a:blip r:embed="rId3"/>
          <a:stretch>
            <a:fillRect/>
          </a:stretch>
        </p:blipFill>
        <p:spPr>
          <a:xfrm>
            <a:off x="1007406" y="1199839"/>
            <a:ext cx="7935432" cy="445832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2C74EB-1FB4-01D4-93DE-E7DFDDD6B7CE}"/>
              </a:ext>
            </a:extLst>
          </p:cNvPr>
          <p:cNvPicPr>
            <a:picLocks noChangeAspect="1"/>
          </p:cNvPicPr>
          <p:nvPr/>
        </p:nvPicPr>
        <p:blipFill>
          <a:blip r:embed="rId2"/>
          <a:stretch>
            <a:fillRect/>
          </a:stretch>
        </p:blipFill>
        <p:spPr>
          <a:xfrm>
            <a:off x="456970" y="1376076"/>
            <a:ext cx="5496692" cy="4105848"/>
          </a:xfrm>
          <a:prstGeom prst="rect">
            <a:avLst/>
          </a:prstGeom>
        </p:spPr>
      </p:pic>
      <p:pic>
        <p:nvPicPr>
          <p:cNvPr id="8" name="Picture 7">
            <a:extLst>
              <a:ext uri="{FF2B5EF4-FFF2-40B4-BE49-F238E27FC236}">
                <a16:creationId xmlns:a16="http://schemas.microsoft.com/office/drawing/2014/main" id="{6CACB223-E264-EF8E-658C-5FDF0520C4BC}"/>
              </a:ext>
            </a:extLst>
          </p:cNvPr>
          <p:cNvPicPr>
            <a:picLocks noChangeAspect="1"/>
          </p:cNvPicPr>
          <p:nvPr/>
        </p:nvPicPr>
        <p:blipFill>
          <a:blip r:embed="rId3"/>
          <a:stretch>
            <a:fillRect/>
          </a:stretch>
        </p:blipFill>
        <p:spPr>
          <a:xfrm>
            <a:off x="5953662" y="1368702"/>
            <a:ext cx="5253423" cy="4105848"/>
          </a:xfrm>
          <a:prstGeom prst="rect">
            <a:avLst/>
          </a:prstGeom>
        </p:spPr>
      </p:pic>
    </p:spTree>
    <p:extLst>
      <p:ext uri="{BB962C8B-B14F-4D97-AF65-F5344CB8AC3E}">
        <p14:creationId xmlns:p14="http://schemas.microsoft.com/office/powerpoint/2010/main" val="306319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D325B4-F875-13A4-6B98-8D4CD6559F7F}"/>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4" name="Picture 3">
            <a:extLst>
              <a:ext uri="{FF2B5EF4-FFF2-40B4-BE49-F238E27FC236}">
                <a16:creationId xmlns:a16="http://schemas.microsoft.com/office/drawing/2014/main" id="{DAFA0189-4075-8DE8-3FE9-08577459C906}"/>
              </a:ext>
            </a:extLst>
          </p:cNvPr>
          <p:cNvPicPr>
            <a:picLocks noChangeAspect="1"/>
          </p:cNvPicPr>
          <p:nvPr/>
        </p:nvPicPr>
        <p:blipFill>
          <a:blip r:embed="rId2"/>
          <a:srcRect b="701"/>
          <a:stretch>
            <a:fillRect/>
          </a:stretch>
        </p:blipFill>
        <p:spPr>
          <a:xfrm>
            <a:off x="539636" y="430333"/>
            <a:ext cx="8392696" cy="5997334"/>
          </a:xfrm>
          <a:prstGeom prst="rect">
            <a:avLst/>
          </a:prstGeom>
        </p:spPr>
      </p:pic>
    </p:spTree>
    <p:extLst>
      <p:ext uri="{BB962C8B-B14F-4D97-AF65-F5344CB8AC3E}">
        <p14:creationId xmlns:p14="http://schemas.microsoft.com/office/powerpoint/2010/main" val="1627170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a:t>
            </a:r>
            <a:r>
              <a:rPr lang="en-IN" sz="4000" dirty="0"/>
              <a:t> </a:t>
            </a:r>
            <a:r>
              <a:rPr lang="en-IN" sz="4000" dirty="0">
                <a:latin typeface="Times New Roman" panose="02020603050405020304" pitchFamily="18" charset="0"/>
                <a:cs typeface="Times New Roman" panose="02020603050405020304" pitchFamily="18" charset="0"/>
              </a:rPr>
              <a:t>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719779" cy="465348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real-time weather data.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machine learning models for crop yield prediction.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Predict seasonal agricultural profitability.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a recommendation system for crop selection.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web dashboard for farmers and planners.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satellite and IoT agricultural data.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Build an early warning system for disease and pest risks. </a:t>
            </a:r>
          </a:p>
          <a:p>
            <a:pPr marL="342900" lvl="0" indent="-342900" algn="just">
              <a:buClr>
                <a:schemeClr val="tx1">
                  <a:lumMod val="95000"/>
                  <a:lumOff val="5000"/>
                </a:schemeClr>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mobile application for farmers.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587829" y="85987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4F2D5AA-1DA3-4E2C-4A0D-DA11CC6DB70C}"/>
              </a:ext>
            </a:extLst>
          </p:cNvPr>
          <p:cNvSpPr txBox="1"/>
          <p:nvPr/>
        </p:nvSpPr>
        <p:spPr>
          <a:xfrm>
            <a:off x="587829" y="2500604"/>
            <a:ext cx="9232014" cy="461665"/>
          </a:xfrm>
          <a:prstGeom prst="rect">
            <a:avLst/>
          </a:prstGeom>
          <a:noFill/>
        </p:spPr>
        <p:txBody>
          <a:bodyPr wrap="none" rtlCol="0">
            <a:spAutoFit/>
          </a:bodyPr>
          <a:lstStyle/>
          <a:p>
            <a:r>
              <a:rPr lang="en-IN" sz="2400">
                <a:hlinkClick r:id="rId3"/>
              </a:rPr>
              <a:t>https://github.com/SakshiiiShetty/Major_project_Data_Analysis-</a:t>
            </a:r>
            <a:endParaRPr lang="en-IN" sz="24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3FDFE31-0B65-E084-6702-C28CA4B91530}"/>
              </a:ext>
            </a:extLst>
          </p:cNvPr>
          <p:cNvPicPr>
            <a:picLocks noChangeAspect="1"/>
          </p:cNvPicPr>
          <p:nvPr/>
        </p:nvPicPr>
        <p:blipFill>
          <a:blip r:embed="rId3"/>
          <a:stretch>
            <a:fillRect/>
          </a:stretch>
        </p:blipFill>
        <p:spPr>
          <a:xfrm>
            <a:off x="922040" y="1608410"/>
            <a:ext cx="7859222" cy="471846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912401"/>
            <a:ext cx="11340000" cy="700114"/>
          </a:xfrm>
          <a:prstGeom prst="rect">
            <a:avLst/>
          </a:prstGeom>
        </p:spPr>
        <p:txBody>
          <a:bodyPr anchor="ctr">
            <a:noAutofit/>
          </a:bodyPr>
          <a:lstStyle/>
          <a:p>
            <a:pPr algn="ctr"/>
            <a:r>
              <a:rPr lang="en-US" sz="6000" b="1" dirty="0">
                <a:solidFill>
                  <a:schemeClr val="accent2">
                    <a:lumMod val="75000"/>
                  </a:schemeClr>
                </a:solidFill>
                <a:latin typeface="Courier New" panose="02070309020205020404" pitchFamily="49" charset="0"/>
                <a:cs typeface="Courier New" panose="02070309020205020404" pitchFamily="49"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625</TotalTime>
  <Words>532</Words>
  <Application>Microsoft Office PowerPoint</Application>
  <PresentationFormat>Widescreen</PresentationFormat>
  <Paragraphs>82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Courier New</vt:lpstr>
      <vt:lpstr>Times New Roman</vt:lpstr>
      <vt:lpstr>Trebuchet MS</vt:lpstr>
      <vt:lpstr>Wingdings</vt:lpstr>
      <vt:lpstr>Wingdings 3</vt:lpstr>
      <vt:lpstr>Facet</vt:lpstr>
      <vt:lpstr>Project Title  Seasonal Agriculture Performance Analysis  </vt:lpstr>
      <vt:lpstr>PROBLEM  STATEMENT</vt:lpstr>
      <vt:lpstr>Project Description  </vt:lpstr>
      <vt:lpstr>Objective </vt:lpstr>
      <vt:lpstr>WHO ARE THE END USERS?</vt:lpstr>
      <vt:lpstr>Technology Used</vt:lpstr>
      <vt:lpstr>RESULTS </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sudupthi poojary</cp:lastModifiedBy>
  <cp:revision>102</cp:revision>
  <dcterms:created xsi:type="dcterms:W3CDTF">2021-07-11T13:13:15Z</dcterms:created>
  <dcterms:modified xsi:type="dcterms:W3CDTF">2026-09-09T08:09:56Z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